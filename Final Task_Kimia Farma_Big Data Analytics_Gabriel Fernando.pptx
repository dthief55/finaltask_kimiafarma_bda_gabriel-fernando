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ubik Medium"/>
      <p:regular r:id="rId18"/>
      <p:bold r:id="rId19"/>
      <p:italic r:id="rId20"/>
      <p:boldItalic r:id="rId21"/>
    </p:embeddedFont>
    <p:embeddedFont>
      <p:font typeface="Rubik Light"/>
      <p:regular r:id="rId22"/>
      <p:bold r:id="rId23"/>
      <p:italic r:id="rId24"/>
      <p:boldItalic r:id="rId25"/>
    </p:embeddedFont>
    <p:embeddedFont>
      <p:font typeface="Rubik"/>
      <p:regular r:id="rId26"/>
      <p:bold r:id="rId27"/>
      <p:italic r:id="rId28"/>
      <p:boldItalic r:id="rId29"/>
    </p:embeddedFont>
    <p:embeddedFont>
      <p:font typeface="Rubik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C5DTAjMZd+6lUQWobbLOFr4Ds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Medium-italic.fntdata"/><Relationship Id="rId22" Type="http://schemas.openxmlformats.org/officeDocument/2006/relationships/font" Target="fonts/RubikLight-regular.fntdata"/><Relationship Id="rId21" Type="http://schemas.openxmlformats.org/officeDocument/2006/relationships/font" Target="fonts/RubikMedium-boldItalic.fntdata"/><Relationship Id="rId24" Type="http://schemas.openxmlformats.org/officeDocument/2006/relationships/font" Target="fonts/RubikLight-italic.fntdata"/><Relationship Id="rId23" Type="http://schemas.openxmlformats.org/officeDocument/2006/relationships/font" Target="fonts/Rubik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ubik-regular.fntdata"/><Relationship Id="rId25" Type="http://schemas.openxmlformats.org/officeDocument/2006/relationships/font" Target="fonts/RubikLight-boldItalic.fntdata"/><Relationship Id="rId28" Type="http://schemas.openxmlformats.org/officeDocument/2006/relationships/font" Target="fonts/Rubik-italic.fntdata"/><Relationship Id="rId27" Type="http://schemas.openxmlformats.org/officeDocument/2006/relationships/font" Target="fonts/Rubi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ubik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ubikSemiBold-bold.fntdata"/><Relationship Id="rId30" Type="http://schemas.openxmlformats.org/officeDocument/2006/relationships/font" Target="fonts/Rubik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Rubik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RubikSemiBold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ubikMedium-bold.fntdata"/><Relationship Id="rId18" Type="http://schemas.openxmlformats.org/officeDocument/2006/relationships/font" Target="fonts/Rubik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5ee86830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265ee86830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5ee86830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265ee86830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3ec2985a68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23ec2985a68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3ec2985a68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3ec2985a68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3ec2985a68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23ec2985a68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3ec2985a68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3ec2985a68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85868f3b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85868f3b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85868f3b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985868f3b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hyperlink" Target="https://coursera.org/verify/specialization/6ZA53LKNJDV6" TargetMode="External"/><Relationship Id="rId6" Type="http://schemas.openxmlformats.org/officeDocument/2006/relationships/hyperlink" Target="https://coursera.org/verify/specialization/W6L3BS22ABR8" TargetMode="External"/><Relationship Id="rId7" Type="http://schemas.openxmlformats.org/officeDocument/2006/relationships/hyperlink" Target="https://coursera.org/verify/professional-cert/FCVVWZ3843GR" TargetMode="External"/><Relationship Id="rId8" Type="http://schemas.openxmlformats.org/officeDocument/2006/relationships/hyperlink" Target="https://coursera.org/verify/specialization/Z23TX4CLT6Y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hyperlink" Target="https://github.com/dthief55/FinalTask_KimiaFarma_BDA_Gabriel-Fernando.git" TargetMode="External"/><Relationship Id="rId7" Type="http://schemas.openxmlformats.org/officeDocument/2006/relationships/hyperlink" Target="https://drive.google.com/file/d/1O_FUcks6qYIyQSkLWmJMu-3QJSCCkf_a/view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FA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225" y="3664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517900" y="1596200"/>
            <a:ext cx="6239100" cy="14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Analisis Performa Kimia Farma (2020-2023)</a:t>
            </a:r>
            <a:endParaRPr b="0" i="0" sz="1500" u="none" cap="none" strike="noStrik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17900" y="3130300"/>
            <a:ext cx="7289100" cy="56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Kimia Farma - Big Data Analytics</a:t>
            </a:r>
            <a:endParaRPr b="0" i="0" sz="2500" u="none" cap="none" strike="noStrik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769125" y="31382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b="0" i="0" sz="3000" u="none" cap="none" strike="noStrik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17900" y="3699700"/>
            <a:ext cx="4392000" cy="95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b="0" i="0" sz="2000" u="none" cap="none" strike="noStrike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Gabriel Fernando</a:t>
            </a:r>
            <a:endParaRPr b="0" i="0" sz="3000" u="none" cap="none" strike="noStrike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6925" y="172450"/>
            <a:ext cx="1581660" cy="5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4867250" y="959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latin typeface="Rubik SemiBold"/>
                <a:ea typeface="Rubik SemiBold"/>
                <a:cs typeface="Rubik SemiBold"/>
                <a:sym typeface="Rubik SemiBold"/>
              </a:rPr>
              <a:t>Gabriel Fernando</a:t>
            </a:r>
            <a:endParaRPr b="0" i="0" sz="20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4867250" y="1451775"/>
            <a:ext cx="3504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500">
                <a:solidFill>
                  <a:srgbClr val="019FAB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Bachelor of Electrical Engineering</a:t>
            </a:r>
            <a:endParaRPr b="0" i="0" sz="1300" u="none" cap="none" strike="noStrike">
              <a:solidFill>
                <a:srgbClr val="019FAB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4867250" y="1974600"/>
            <a:ext cx="38502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Rubik Medium"/>
                <a:ea typeface="Rubik Medium"/>
                <a:cs typeface="Rubik Medium"/>
                <a:sym typeface="Rubik Medium"/>
              </a:rPr>
              <a:t>Hello there!</a:t>
            </a:r>
            <a:endParaRPr sz="110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Rubik Medium"/>
                <a:ea typeface="Rubik Medium"/>
                <a:cs typeface="Rubik Medium"/>
                <a:sym typeface="Rubik Medium"/>
              </a:rPr>
              <a:t>I'm Gabriel Fernando, i'm bachelor graduated in Electrical Engineering. </a:t>
            </a:r>
            <a:r>
              <a:rPr lang="en" sz="1100">
                <a:latin typeface="Rubik Medium"/>
                <a:ea typeface="Rubik Medium"/>
                <a:cs typeface="Rubik Medium"/>
                <a:sym typeface="Rubik Medium"/>
              </a:rPr>
              <a:t>Currently</a:t>
            </a:r>
            <a:r>
              <a:rPr lang="en" sz="1100">
                <a:latin typeface="Rubik Medium"/>
                <a:ea typeface="Rubik Medium"/>
                <a:cs typeface="Rubik Medium"/>
                <a:sym typeface="Rubik Medium"/>
              </a:rPr>
              <a:t>, i am working in Kilang Pertamina Internasional (KPI) as the subsidiaries of Pertamina Holdings.</a:t>
            </a:r>
            <a:endParaRPr sz="1100">
              <a:latin typeface="Rubik Medium"/>
              <a:ea typeface="Rubik Medium"/>
              <a:cs typeface="Rubik Medium"/>
              <a:sym typeface="Rubik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Rubik Medium"/>
                <a:ea typeface="Rubik Medium"/>
                <a:cs typeface="Rubik Medium"/>
                <a:sym typeface="Rubik Medium"/>
              </a:rPr>
              <a:t>I'm interested to </a:t>
            </a:r>
            <a:r>
              <a:rPr lang="en" sz="1100">
                <a:latin typeface="Rubik Medium"/>
                <a:ea typeface="Rubik Medium"/>
                <a:cs typeface="Rubik Medium"/>
                <a:sym typeface="Rubik Medium"/>
              </a:rPr>
              <a:t>everything</a:t>
            </a:r>
            <a:r>
              <a:rPr lang="en" sz="1100">
                <a:latin typeface="Rubik Medium"/>
                <a:ea typeface="Rubik Medium"/>
                <a:cs typeface="Rubik Medium"/>
                <a:sym typeface="Rubik Medium"/>
              </a:rPr>
              <a:t> about Big Data and Tech, such as Data Science, Machine Learning, Artificial Intelligence. Beside that, i'd like something about financial, i.e. market research, investing, and money management.</a:t>
            </a:r>
            <a:endParaRPr sz="1100"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788450" y="3771600"/>
            <a:ext cx="3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>
                <a:latin typeface="Rubik Medium"/>
                <a:ea typeface="Rubik Medium"/>
                <a:cs typeface="Rubik Medium"/>
                <a:sym typeface="Rubik Medium"/>
              </a:rPr>
              <a:t>Kab. Tangerang, Banten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400" y="4617475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8950" y="3756150"/>
            <a:ext cx="400201" cy="40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7746" y="4255152"/>
            <a:ext cx="369300" cy="26351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788450" y="4593825"/>
            <a:ext cx="3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>
                <a:latin typeface="Rubik Medium"/>
                <a:ea typeface="Rubik Medium"/>
                <a:cs typeface="Rubik Medium"/>
                <a:sym typeface="Rubik Medium"/>
              </a:rPr>
              <a:t>www.linkedin.com/in/gabrielf19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788450" y="4202263"/>
            <a:ext cx="3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>
                <a:latin typeface="Rubik Medium"/>
                <a:ea typeface="Rubik Medium"/>
                <a:cs typeface="Rubik Medium"/>
                <a:sym typeface="Rubik Medium"/>
              </a:rPr>
              <a:t>fernandogabriel662@gmail.com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78" name="Google Shape;78;p3" title="[Pass Foto] Gabriel Fernando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07949" y="971175"/>
            <a:ext cx="1756100" cy="2589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3550" y="204879"/>
            <a:ext cx="1399899" cy="502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265ee868302_0_130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265ee868302_0_130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265ee868302_0_130"/>
          <p:cNvSpPr txBox="1"/>
          <p:nvPr/>
        </p:nvSpPr>
        <p:spPr>
          <a:xfrm>
            <a:off x="340500" y="1406350"/>
            <a:ext cx="8653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ubik"/>
                <a:ea typeface="Rubik"/>
                <a:cs typeface="Rubik"/>
                <a:sym typeface="Rubik"/>
              </a:rPr>
              <a:t>DeepLearning.AI Mathematics for Machine Learning and Data Science 	| </a:t>
            </a:r>
            <a:r>
              <a:rPr b="1" lang="en" sz="1200" u="sng">
                <a:solidFill>
                  <a:schemeClr val="hlink"/>
                </a:solidFill>
                <a:latin typeface="Rubik"/>
                <a:ea typeface="Rubik"/>
                <a:cs typeface="Rubik"/>
                <a:sym typeface="Rubik"/>
                <a:hlinkClick r:id="rId5"/>
              </a:rPr>
              <a:t>Link Verifikasi</a:t>
            </a:r>
            <a:endParaRPr b="1"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ubik"/>
                <a:ea typeface="Rubik"/>
                <a:cs typeface="Rubik"/>
                <a:sym typeface="Rubik"/>
              </a:rPr>
              <a:t>Stanford University &amp; DeepLearning.AI Machine Learning 			| </a:t>
            </a:r>
            <a:r>
              <a:rPr b="1" lang="en" sz="1200" u="sng">
                <a:solidFill>
                  <a:schemeClr val="hlink"/>
                </a:solidFill>
                <a:latin typeface="Rubik"/>
                <a:ea typeface="Rubik"/>
                <a:cs typeface="Rubik"/>
                <a:sym typeface="Rubik"/>
                <a:hlinkClick r:id="rId6"/>
              </a:rPr>
              <a:t>Link Verifikasi</a:t>
            </a:r>
            <a:endParaRPr b="1"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ubik"/>
                <a:ea typeface="Rubik"/>
                <a:cs typeface="Rubik"/>
                <a:sym typeface="Rubik"/>
              </a:rPr>
              <a:t>DeepLearning.AI DeepLearning.AI TensorFlow </a:t>
            </a:r>
            <a:r>
              <a:rPr b="1" lang="en" sz="1200">
                <a:latin typeface="Rubik"/>
                <a:ea typeface="Rubik"/>
                <a:cs typeface="Rubik"/>
                <a:sym typeface="Rubik"/>
              </a:rPr>
              <a:t>Developer			</a:t>
            </a:r>
            <a:r>
              <a:rPr b="1" lang="en" sz="1200">
                <a:latin typeface="Rubik"/>
                <a:ea typeface="Rubik"/>
                <a:cs typeface="Rubik"/>
                <a:sym typeface="Rubik"/>
              </a:rPr>
              <a:t>| </a:t>
            </a:r>
            <a:r>
              <a:rPr b="1" lang="en" sz="1200" u="sng">
                <a:solidFill>
                  <a:schemeClr val="hlink"/>
                </a:solidFill>
                <a:latin typeface="Rubik"/>
                <a:ea typeface="Rubik"/>
                <a:cs typeface="Rubik"/>
                <a:sym typeface="Rubik"/>
                <a:hlinkClick r:id="rId7"/>
              </a:rPr>
              <a:t>Link Verifikasi</a:t>
            </a:r>
            <a:endParaRPr b="1"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ubik"/>
                <a:ea typeface="Rubik"/>
                <a:cs typeface="Rubik"/>
                <a:sym typeface="Rubik"/>
              </a:rPr>
              <a:t>DeepLearning.AI TensorFlow: Data and Deployment 				| </a:t>
            </a:r>
            <a:r>
              <a:rPr b="1" lang="en" sz="1200" u="sng">
                <a:solidFill>
                  <a:schemeClr val="hlink"/>
                </a:solidFill>
                <a:latin typeface="Rubik"/>
                <a:ea typeface="Rubik"/>
                <a:cs typeface="Rubik"/>
                <a:sym typeface="Rubik"/>
                <a:hlinkClick r:id="rId8"/>
              </a:rPr>
              <a:t>Link Verifikasi</a:t>
            </a:r>
            <a:endParaRPr b="1"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ubik"/>
                <a:ea typeface="Rubik"/>
                <a:cs typeface="Rubik"/>
                <a:sym typeface="Rubik"/>
              </a:rPr>
              <a:t>BANGKIT Academy - Machine Learning 						| BA23/GRAD/XXIV-01/M318BSY1383</a:t>
            </a:r>
            <a:endParaRPr b="1"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ubik"/>
                <a:ea typeface="Rubik"/>
                <a:cs typeface="Rubik"/>
                <a:sym typeface="Rubik"/>
              </a:rPr>
              <a:t>The British Institute - English for Business Communication 			| TBI-DAGO/CORP/2836</a:t>
            </a:r>
            <a:endParaRPr b="1" sz="12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7" name="Google Shape;87;g265ee868302_0_130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Courses and </a:t>
            </a:r>
            <a:r>
              <a:rPr b="1" i="0" lang="en" sz="30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Certification</a:t>
            </a:r>
            <a:endParaRPr b="1" i="0" sz="30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4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383550" y="1160975"/>
            <a:ext cx="8376900" cy="3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Kimia Farma merupakan suatu perusahaan dalam bidang farmasi yang</a:t>
            </a:r>
            <a:r>
              <a:rPr lang="en" sz="1300">
                <a:solidFill>
                  <a:schemeClr val="dk1"/>
                </a:solidFill>
              </a:rPr>
              <a:t> pertama kali dibentuk oleh Pemerintah Hindia Belanda tahun 1817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Kimia Farma telah berkembang menjadi perusahaan dengan pelayanan kesehatan terintegrasi di Indonesia.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Kimia Farma memiliki visi “</a:t>
            </a:r>
            <a:r>
              <a:rPr b="1" i="1" lang="en" sz="1300">
                <a:solidFill>
                  <a:schemeClr val="dk1"/>
                </a:solidFill>
              </a:rPr>
              <a:t>Menjadi perusahaan Healthcare pilihan utama yang terintegrasi dan menghasilkan nilai yang berkesinambungan</a:t>
            </a:r>
            <a:r>
              <a:rPr lang="en" sz="1300">
                <a:solidFill>
                  <a:schemeClr val="dk1"/>
                </a:solidFill>
              </a:rPr>
              <a:t>”.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Kimia Farma juga memiliki beberapa misi seperti berikut: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1. Melakukan aktivitas usaha di bidang-bidang industri kimia dan farmasi, perdagangan dan jaringan distribusi, ritel farmasi dan layanan kesehatan serta optimalisasi aset.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2. Mengelola perusahaan secara </a:t>
            </a:r>
            <a:r>
              <a:rPr i="1" lang="en" sz="1300">
                <a:solidFill>
                  <a:schemeClr val="dk1"/>
                </a:solidFill>
              </a:rPr>
              <a:t>Good Corporate Governance</a:t>
            </a:r>
            <a:r>
              <a:rPr lang="en" sz="1300">
                <a:solidFill>
                  <a:schemeClr val="dk1"/>
                </a:solidFill>
              </a:rPr>
              <a:t> dan </a:t>
            </a:r>
            <a:r>
              <a:rPr i="1" lang="en" sz="1300">
                <a:solidFill>
                  <a:schemeClr val="dk1"/>
                </a:solidFill>
              </a:rPr>
              <a:t>operational excellence</a:t>
            </a:r>
            <a:r>
              <a:rPr lang="en" sz="1300">
                <a:solidFill>
                  <a:schemeClr val="dk1"/>
                </a:solidFill>
              </a:rPr>
              <a:t> didukung oleh Sumber Daya Manusia (SDM) profesional.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3. Memberikan nilai tambah dan manfaat bagi seluruh </a:t>
            </a:r>
            <a:r>
              <a:rPr i="1" lang="en" sz="1300">
                <a:solidFill>
                  <a:schemeClr val="dk1"/>
                </a:solidFill>
              </a:rPr>
              <a:t>stakeholder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340500" y="185613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About </a:t>
            </a:r>
            <a:r>
              <a:rPr b="1" i="0" lang="en" sz="30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Company</a:t>
            </a:r>
            <a:endParaRPr b="1" i="0" sz="30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96" name="Google Shape;9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550" y="257479"/>
            <a:ext cx="1399899" cy="502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265ee868302_0_99"/>
          <p:cNvPicPr preferRelativeResize="0"/>
          <p:nvPr/>
        </p:nvPicPr>
        <p:blipFill rotWithShape="1">
          <a:blip r:embed="rId3">
            <a:alphaModFix amt="10000"/>
          </a:blip>
          <a:srcRect b="0" l="22976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65ee868302_0_99"/>
          <p:cNvSpPr txBox="1"/>
          <p:nvPr/>
        </p:nvSpPr>
        <p:spPr>
          <a:xfrm>
            <a:off x="340500" y="1406350"/>
            <a:ext cx="8340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Pada presentasi ini, saya akan membahas secara singkat dan sederhana hasil analisis berdasarkan tabel yang sudah saya bentuk dari 4 dataset, yakni “</a:t>
            </a:r>
            <a:r>
              <a:rPr b="1" i="1" lang="en" sz="1200">
                <a:latin typeface="Rubik"/>
                <a:ea typeface="Rubik"/>
                <a:cs typeface="Rubik"/>
                <a:sym typeface="Rubik"/>
              </a:rPr>
              <a:t>kf_final_transaction</a:t>
            </a:r>
            <a:r>
              <a:rPr lang="en" sz="1200">
                <a:latin typeface="Rubik"/>
                <a:ea typeface="Rubik"/>
                <a:cs typeface="Rubik"/>
                <a:sym typeface="Rubik"/>
              </a:rPr>
              <a:t>”, 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“</a:t>
            </a:r>
            <a:r>
              <a:rPr b="1" i="1"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kf_inventory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”, “</a:t>
            </a:r>
            <a:r>
              <a:rPr b="1" i="1"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kf_kantor_cabang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”, dan “</a:t>
            </a:r>
            <a:r>
              <a:rPr b="1" i="1"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kf_product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”. Beberapa diantara yang akan dipresentasikan adalah sebagai berikut: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ubik"/>
              <a:buAutoNum type="arabicPeriod"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Trend line chart penjualan KF, 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ubik"/>
              <a:buAutoNum type="arabicPeriod"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Top-10 total transaksi branch dan top-10 total profit branch, 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ubik"/>
              <a:buAutoNum type="arabicPeriod"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Peta total penjualan, 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ubik"/>
              <a:buAutoNum type="arabicPeriod"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Rating cabang branch sorted by rating transaksi, 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ubik"/>
              <a:buAutoNum type="arabicPeriod"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Card style. 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ubik"/>
              <a:buAutoNum type="arabicPeriod"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Scatter plot yang membandingkan relasi antara Rating cabang vs Net Profit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3" name="Google Shape;103;g265ee868302_0_99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265ee868302_0_99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b="1" i="0" lang="en" sz="30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b="1" i="0" sz="30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5" name="Google Shape;105;g265ee868302_0_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550" y="257479"/>
            <a:ext cx="1399899" cy="50279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265ee868302_0_99"/>
          <p:cNvSpPr txBox="1"/>
          <p:nvPr/>
        </p:nvSpPr>
        <p:spPr>
          <a:xfrm>
            <a:off x="6054900" y="4577050"/>
            <a:ext cx="30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b="1" lang="en" sz="1200">
                <a:latin typeface="Rubik"/>
                <a:ea typeface="Rubik"/>
                <a:cs typeface="Rubik"/>
                <a:sym typeface="Rubik"/>
              </a:rPr>
              <a:t>GitHub</a:t>
            </a: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1" lang="en" sz="1200">
                <a:latin typeface="Rubik"/>
                <a:ea typeface="Rubik"/>
                <a:cs typeface="Rubik"/>
                <a:sym typeface="Rubik"/>
              </a:rPr>
              <a:t>is </a:t>
            </a:r>
            <a:r>
              <a:rPr b="1" i="0" lang="en" sz="1200" u="sng" cap="none" strike="noStrike">
                <a:solidFill>
                  <a:schemeClr val="hlink"/>
                </a:solidFill>
                <a:latin typeface="Rubik"/>
                <a:ea typeface="Rubik"/>
                <a:cs typeface="Rubik"/>
                <a:sym typeface="Rubik"/>
                <a:hlinkClick r:id="rId6"/>
              </a:rPr>
              <a:t>here!</a:t>
            </a:r>
            <a:endParaRPr b="1" i="1" sz="1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7" name="Google Shape;107;g265ee868302_0_99"/>
          <p:cNvSpPr txBox="1"/>
          <p:nvPr/>
        </p:nvSpPr>
        <p:spPr>
          <a:xfrm>
            <a:off x="6054900" y="4269250"/>
            <a:ext cx="30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explanation video </a:t>
            </a:r>
            <a:r>
              <a:rPr b="1" i="0" lang="en" sz="1200" u="sng" cap="none" strike="noStrike">
                <a:solidFill>
                  <a:schemeClr val="hlink"/>
                </a:solidFill>
                <a:latin typeface="Rubik"/>
                <a:ea typeface="Rubik"/>
                <a:cs typeface="Rubik"/>
                <a:sym typeface="Rubik"/>
                <a:hlinkClick r:id="rId7"/>
              </a:rPr>
              <a:t>here!</a:t>
            </a:r>
            <a:endParaRPr b="1" i="1" sz="1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23ec2985a68_1_3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23ec2985a68_1_33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23ec2985a68_1_33"/>
          <p:cNvSpPr txBox="1"/>
          <p:nvPr/>
        </p:nvSpPr>
        <p:spPr>
          <a:xfrm>
            <a:off x="340500" y="185613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b="1" i="0" lang="en" sz="27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Importing Dataset to BigQuery</a:t>
            </a:r>
            <a:endParaRPr b="1" i="0" sz="2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15" name="Google Shape;115;g23ec2985a68_1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250" y="1226188"/>
            <a:ext cx="8803501" cy="2691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23ec2985a68_1_4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3ec2985a68_1_42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23ec2985a68_1_42"/>
          <p:cNvSpPr txBox="1"/>
          <p:nvPr/>
        </p:nvSpPr>
        <p:spPr>
          <a:xfrm>
            <a:off x="340500" y="235013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2"/>
            </a:pPr>
            <a:r>
              <a:rPr b="1" i="0" lang="en" sz="27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Tabel Analisa</a:t>
            </a:r>
            <a:endParaRPr b="1" i="0" sz="2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23" name="Google Shape;123;g23ec2985a68_1_42" title="Screenshot 2025-10-30 1313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175" y="1369051"/>
            <a:ext cx="7669651" cy="292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23ec2985a68_1_4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23ec2985a68_1_49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3ec2985a68_1_49"/>
          <p:cNvSpPr txBox="1"/>
          <p:nvPr/>
        </p:nvSpPr>
        <p:spPr>
          <a:xfrm>
            <a:off x="340500" y="185613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b="1" i="0" lang="en" sz="27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BigQuery Syntax</a:t>
            </a:r>
            <a:endParaRPr b="1" i="0" sz="2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31" name="Google Shape;131;g23ec2985a68_1_49" title="Screenshot 2025-10-30 1331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725" y="1458612"/>
            <a:ext cx="8614551" cy="22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23ec2985a68_1_5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23ec2985a68_1_56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23ec2985a68_1_56"/>
          <p:cNvSpPr txBox="1"/>
          <p:nvPr/>
        </p:nvSpPr>
        <p:spPr>
          <a:xfrm>
            <a:off x="340500" y="185613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b="1" i="0" lang="en" sz="27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Dashboard  Performance Analytics</a:t>
            </a:r>
            <a:endParaRPr b="1" i="0" sz="2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39" name="Google Shape;139;g23ec2985a68_1_56" title="KF-Dashboard_page-000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7200" y="785913"/>
            <a:ext cx="5509576" cy="413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985868f3be_0_1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7681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985868f3be_0_19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985868f3be_0_19"/>
          <p:cNvSpPr txBox="1"/>
          <p:nvPr/>
        </p:nvSpPr>
        <p:spPr>
          <a:xfrm>
            <a:off x="340488" y="235013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b="1" i="0" lang="en" sz="27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Dashboard  Performance Analytics</a:t>
            </a:r>
            <a:endParaRPr b="1" i="0" sz="2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47" name="Google Shape;147;g3985868f3be_0_19" title="KF-Dashboard_page-000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7200" y="785885"/>
            <a:ext cx="5509576" cy="4132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985868f3be_0_2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985868f3be_0_26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985868f3be_0_26"/>
          <p:cNvSpPr txBox="1"/>
          <p:nvPr/>
        </p:nvSpPr>
        <p:spPr>
          <a:xfrm>
            <a:off x="254500" y="185613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1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b="1" i="0" lang="en" sz="27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Dashboard  Performance Analytics</a:t>
            </a:r>
            <a:endParaRPr b="1" i="0" sz="2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55" name="Google Shape;155;g3985868f3be_0_26" title="KF-Dashboard_page-000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7200" y="785886"/>
            <a:ext cx="5509576" cy="4132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FA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b="0" i="0" sz="2000" u="none" cap="none" strike="noStrik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162" name="Google Shape;162;p8"/>
          <p:cNvGrpSpPr/>
          <p:nvPr/>
        </p:nvGrpSpPr>
        <p:grpSpPr>
          <a:xfrm>
            <a:off x="2895425" y="4125125"/>
            <a:ext cx="3458001" cy="769950"/>
            <a:chOff x="2895425" y="4125125"/>
            <a:chExt cx="3458001" cy="769950"/>
          </a:xfrm>
        </p:grpSpPr>
        <p:pic>
          <p:nvPicPr>
            <p:cNvPr id="163" name="Google Shape;16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95425" y="4262625"/>
              <a:ext cx="1399901" cy="541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8"/>
            <p:cNvSpPr txBox="1"/>
            <p:nvPr/>
          </p:nvSpPr>
          <p:spPr>
            <a:xfrm>
              <a:off x="4314750" y="4248575"/>
              <a:ext cx="457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lt1"/>
                  </a:solidFill>
                  <a:latin typeface="Rubik SemiBold"/>
                  <a:ea typeface="Rubik SemiBold"/>
                  <a:cs typeface="Rubik SemiBold"/>
                  <a:sym typeface="Rubik SemiBold"/>
                </a:rPr>
                <a:t>X</a:t>
              </a:r>
              <a:endParaRPr b="0" i="0" sz="3000" u="none" cap="none" strike="noStrik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endParaRPr>
            </a:p>
          </p:txBody>
        </p:sp>
        <p:pic>
          <p:nvPicPr>
            <p:cNvPr id="165" name="Google Shape;165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46325" y="4125125"/>
              <a:ext cx="1507101" cy="555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